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17"/>
  </p:notesMasterIdLst>
  <p:handoutMasterIdLst>
    <p:handoutMasterId r:id="rId18"/>
  </p:handoutMasterIdLst>
  <p:sldIdLst>
    <p:sldId id="486" r:id="rId4"/>
    <p:sldId id="463" r:id="rId6"/>
    <p:sldId id="487" r:id="rId3"/>
    <p:sldId id="488" r:id="rId2"/>
    <p:sldId id="489" r:id="rId23"/>
    <p:sldId id="490" r:id="rId24"/>
    <p:sldId id="491" r:id="rId25"/>
    <p:sldId id="492" r:id="rId26"/>
    <p:sldId id="493" r:id="rId27"/>
    <p:sldId id="494" r:id="rId28"/>
    <p:sldId id="495" r:id="rId29"/>
    <p:sldId id="496"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11" autoAdjust="0"/>
    <p:restoredTop sz="96168"/>
  </p:normalViewPr>
  <p:slideViewPr>
    <p:cSldViewPr snapToGrid="0" snapToObjects="1" showGuides="1">
      <p:cViewPr varScale="1">
        <p:scale>
          <a:sx n="134" d="100"/>
          <a:sy n="134" d="100"/>
        </p:scale>
        <p:origin x="368" y="176"/>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87" d="100"/>
          <a:sy n="87" d="100"/>
        </p:scale>
        <p:origin x="384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5.xml"/><Relationship Id="rId3" Type="http://schemas.openxmlformats.org/officeDocument/2006/relationships/slide" Target="slides/slide14.xml"/><Relationship Id="rId4" Type="http://schemas.openxmlformats.org/officeDocument/2006/relationships/slide" Target="slides/slide13.xml"/><Relationship Id="rId6" Type="http://schemas.openxmlformats.org/officeDocument/2006/relationships/slide" Target="slides/slide5.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Real-world error (EER %)</c:v>
                </c:pt>
              </c:strCache>
            </c:strRef>
          </c:tx>
          <c:spPr>
            <a:solidFill>
              <a:srgbClr val="C8D3DE"/>
            </a:solidFill>
          </c:spPr>
          <c:dPt>
            <c:idx val="0"/>
            <c:spPr>
              <a:solidFill>
                <a:srgbClr val="006DAE"/>
              </a:solidFill>
            </c:spPr>
          </c:dPt>
          <c:dPt>
            <c:idx val="1"/>
            <c:spPr>
              <a:solidFill>
                <a:srgbClr val="006DAE"/>
              </a:solidFill>
            </c:spPr>
          </c:dPt>
          <c:dPt>
            <c:idx val="2"/>
            <c:spPr>
              <a:solidFill>
                <a:srgbClr val="006DAE"/>
              </a:solidFill>
            </c:spPr>
          </c:dPt>
          <c:cat>
            <c:strRef>
              <c:f>Sheet1!$A$2:$A$9</c:f>
              <c:strCache>
                <c:ptCount val="8"/>
                <c:pt idx="0">
                  <c:v>+ paired real speech (served)</c:v>
                </c:pt>
                <c:pt idx="1">
                  <c:v>+ our own fakes</c:v>
                </c:pt>
                <c:pt idx="2">
                  <c:v>+ SpeechFake data</c:v>
                </c:pt>
                <c:pt idx="3">
                  <c:v>Pre-trained + augmentation</c:v>
                </c:pt>
                <c:pt idx="4">
                  <c:v>Pre-trained model</c:v>
                </c:pt>
                <c:pt idx="5">
                  <c:v>+ noise augmentation</c:v>
                </c:pt>
                <c:pt idx="6">
                  <c:v>AASIST</c:v>
                </c:pt>
                <c:pt idx="7">
                  <c:v>CNN, benchmark data</c:v>
                </c:pt>
              </c:strCache>
            </c:strRef>
          </c:cat>
          <c:val>
            <c:numRef>
              <c:f>Sheet1!$B$2:$B$9</c:f>
              <c:numCache>
                <c:formatCode>General</c:formatCode>
                <c:ptCount val="8"/>
                <c:pt idx="0">
                  <c:v>1.51</c:v>
                </c:pt>
                <c:pt idx="1">
                  <c:v>2.02</c:v>
                </c:pt>
                <c:pt idx="2">
                  <c:v>2.65</c:v>
                </c:pt>
                <c:pt idx="3">
                  <c:v>11.21</c:v>
                </c:pt>
                <c:pt idx="4">
                  <c:v>37.86</c:v>
                </c:pt>
                <c:pt idx="5">
                  <c:v>48.78</c:v>
                </c:pt>
                <c:pt idx="6">
                  <c:v>37.15</c:v>
                </c:pt>
                <c:pt idx="7">
                  <c:v>58.54</c:v>
                </c:pt>
              </c:numCache>
            </c:numRef>
          </c:val>
        </c:ser>
        <c:dLbls>
          <c:numFmt formatCode="0.0&quot;%&quot;" sourceLinked="0"/>
          <c:txPr>
            <a:bodyPr/>
            <a:lstStyle/>
            <a:p>
              <a:pPr>
                <a:defRPr sz="13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70.0"/>
        </c:scaling>
        <c:delete/>
        <c:axPos val="b"/>
        <c:majorTickMark val="out"/>
        <c:minorTickMark val="none"/>
        <c:tickLblPos val="nextTo"/>
        <c:crossAx val="-2068027336"/>
        <c:crosses val="autoZero"/>
      </c:valAx>
    </c:plotArea>
    <c:dispBlanksAs val="gap"/>
  </c:chart>
  <c:txPr>
    <a:bodyPr/>
    <a:lstStyle/>
    <a:p>
      <a:pPr>
        <a:defRPr sz="1300">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13/10/22</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10/13/22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[Farhan · 9:15–10:00]</a:t>
            </a:r>
          </a:p>
          <a:p/>
          <a:p>
            <a:r>
              <a:t>Who benefits: anyone holding one recording and one question, such as someone who got a suspicious voice note, a journalist checking a clip, or a platform moderator, who gets an honest reading instead of a false certainty. Next steps would be scoring whole clips, catching the newest generators, and testing the interface with real users.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8:30–9:15]</a:t>
            </a:r>
          </a:p>
          <a:p/>
          <a:p>
            <a:r>
              <a:t>It isn't perfect, and we'd rather say so. Clean, studio-quality fakes still get past it between one time in seven and one in eleven. One brand-new voice generator it never heard still passes more than half the time. It reads only the first four seconds. And the model we serve missed one of our own targets by 0.08 points; we chose to use it because almost everything else improved, and we wrote that down. That's why the site never says 'real': it says a low score on a clean recording isn't proof.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7:30–8:30]</a:t>
            </a:r>
          </a:p>
          <a:p/>
          <a:p>
            <a:r>
              <a:t>Constraints shaped the design. Cost: the model server scales to zero when nobody is using it, so hosting has cost 53 cents of student credit so far. Carbon: training is the expensive part, about 375 GPU-hours, which we estimate at 150 to 200 kilograms of CO2 at Victoria's grid intensity; using it costs almost nothing. Privacy: clips are never written to disk or logged. Licences: we only used data that allows commercial use, which ruled out one large dataset. And safety cuts both ways: we chose to flag only 1 in 100 real voices, because wrongly accusing someone is a harm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[Farhan · 6:30–7:30]</a:t>
            </a:r>
          </a:p>
          <a:p/>
          <a:p>
            <a:r>
              <a:t>We ran 23 experiments in eight weeks. Our critical path was GPU time on Monash's M3 cluster: each serious training run took 12 to 13 hours on one GPU, about 375 GPU-hours in total. Our main project control was pre-registration: before every experiment we wrote down what would count as success, so we couldn't move the goalposts afterwards. That mattered for setbacks: when the models collapsed on real audio on 21 September we re-planned around it; and when the final model missed one of our own targets by 0.08 points, the decision to use it anyway was recorded before we switched it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5:30–6:30]</a:t>
            </a:r>
          </a:p>
          <a:p/>
          <a:p>
            <a:r>
              <a:t>This chart is the project in one picture. Each bar is a model, in the order we built them; the measure is the error on real-world recordings it was never trained on. Our first models scored well on the benchmark and then collapsed here, to 37% and worse; 50% is a coin toss. Augmentation alone made it worse. What worked was the pre-trained model, then more variety of fakes: a public dataset, then clips we generated ourselves, 66,000 in the end from twelve open text-to-speech systems, and finally the genuine recordings those voices were cloned from. That took us from 37% to 1.5%. Farhan will explain how we managed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4:30–5:30]</a:t>
            </a:r>
          </a:p>
          <a:p/>
          <a:p>
            <a:r>
              <a:t>We compared three model sizes. On the standard benchmark the bigger models win, as expected. But the benchmark was misleading: on real-world recordings of public figures, the small models were close to guessing. Only the large pre-trained model held up, so that's the one we serve. Two more choices: we show a reading against a visible line, not a verdict; and we measured privacy-preserving training, found it cost accuracy while protecting only public training data, so we protect the user's upload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3:30–4:30]</a:t>
            </a:r>
          </a:p>
          <a:p/>
          <a:p>
            <a:r>
              <a:t>Under the hood: we take the first four seconds, resample to 16 kHz, and pass it through a speech model that was pre-trained on real speech in 128 languages, with a small classifier on top. Out comes one score: how synthetic it sounds. The key step is the last one. We set the line using thousands of genuine recordings the model never trained on, so that only 1 in 100 real voices crosses it. That's what you see at the bottom: the score, the line, and a band where the model is unsure.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2:00–3:30]</a:t>
            </a:r>
          </a:p>
          <a:p/>
          <a:p>
            <a:r>
              <a:t>This is SoundSentinal, live. [Switch to the browser. Upload a clip, or press 'Check a clip' with the sample.] You upload a voice note, a call recording or a video; the audio is scored in memory and never stored. Instead of a red FAKE stamp, you get a reading: a needle on a scale, the line where the model flags a clip, and, underneath, how often this exact model is wrong on recordings it has never heard. [If the server is cold it takes ~30 s; keep talking over it, or use the screenshot.]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0:00–0:15]</a:t>
            </a:r>
          </a:p>
          <a:p/>
          <a:p>
            <a:r>
              <a:t>Good morning. We are Mohid, Amaan and Farhan, and our project is SoundSentinal: a tool that tells you how likely it is that a voice recording was generated by AI, and how far to trust that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0:15–1:00]</a:t>
            </a:r>
          </a:p>
          <a:p/>
          <a:p>
            <a:r>
              <a:t>Before we explain anything: here are two short clips. [Play Clip A, then Clip B, from the sample panel on the site's home page: 'Synthetic speech' is A, 'Real recording' is B.] Hands up if you think A is the fake. ... A is synthetic; B is a real person. Most people can't tell reliably, and these are 2019-era fakes. Today's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1:00–2:00]</a:t>
            </a:r>
          </a:p>
          <a:p/>
          <a:p>
            <a:r>
              <a:t>Voice cloning is now cheap. In 2019 a company sent 220,000 euros after a phone call that imitated its chief executive, and consumer agencies now warn about 'family emergency' calls in a relative's cloned voice. The person at risk usually has one recording and no one to ask. Detectors exist, but they advertise one accuracy number, and that hides two different mistakes with different costs: flagging a real voice accuses someone; missing a fake leaves someone unprotected. Our project is built around showing both. Over to Mohid.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4.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5.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 Id="rId4" Type="http://schemas.openxmlformats.org/officeDocument/2006/relationships/image" Target="../media/image8.jpg"/><Relationship Id="rId5" Type="http://schemas.openxmlformats.org/officeDocument/2006/relationships/image" Target="../media/image9.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6.emf"/><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Level 1 bullet list (20pt, Arial) &gt; use ‘enter’, then ‘tab’ to create level 2 and 3 sub-bullet lists. </a:t>
            </a:r>
          </a:p>
          <a:p>
            <a:pPr lvl="1"/>
            <a:r>
              <a:rPr lang="en-AU" dirty="0"/>
              <a:t>Level 2 bullet list (16pt, Arial)</a:t>
            </a:r>
          </a:p>
          <a:p>
            <a:pPr lvl="2"/>
            <a:r>
              <a:rPr lang="en-AU" dirty="0"/>
              <a:t>Level 3 bullet list (14pt, Arial)</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
        <p:nvSpPr>
          <p:cNvPr id="10" name="Text Placeholder 17">
            <a:extLst>
              <a:ext uri="{FF2B5EF4-FFF2-40B4-BE49-F238E27FC236}">
                <a16:creationId xmlns:a16="http://schemas.microsoft.com/office/drawing/2014/main" xmlns="" id="{466839EE-A660-4E54-AD29-483FC9EA9A24}"/>
              </a:ext>
            </a:extLst>
          </p:cNvPr>
          <p:cNvSpPr>
            <a:spLocks noGrp="1"/>
          </p:cNvSpPr>
          <p:nvPr>
            <p:ph type="body" sz="quarter" idx="19" hasCustomPrompt="1"/>
          </p:nvPr>
        </p:nvSpPr>
        <p:spPr>
          <a:xfrm>
            <a:off x="306361" y="2131370"/>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p:txBody>
      </p:sp>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
        <p:nvSpPr>
          <p:cNvPr id="10" name="Text Placeholder 17">
            <a:extLst>
              <a:ext uri="{FF2B5EF4-FFF2-40B4-BE49-F238E27FC236}">
                <a16:creationId xmlns:a16="http://schemas.microsoft.com/office/drawing/2014/main" xmlns="" id="{119DE6AA-0BCF-43ED-9B93-485A1E6DA675}"/>
              </a:ext>
            </a:extLst>
          </p:cNvPr>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11" name="Text Placeholder 17">
            <a:extLst>
              <a:ext uri="{FF2B5EF4-FFF2-40B4-BE49-F238E27FC236}">
                <a16:creationId xmlns:a16="http://schemas.microsoft.com/office/drawing/2014/main" xmlns="" id="{A7184EA4-0CE3-477E-BCBE-1058D62AB5F7}"/>
              </a:ext>
            </a:extLst>
          </p:cNvPr>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13" name="Text Placeholder 17">
            <a:extLst>
              <a:ext uri="{FF2B5EF4-FFF2-40B4-BE49-F238E27FC236}">
                <a16:creationId xmlns:a16="http://schemas.microsoft.com/office/drawing/2014/main" xmlns="" id="{9D07E0DE-CCF8-4C7E-83F9-601B50B1CF7E}"/>
              </a:ext>
            </a:extLst>
          </p:cNvPr>
          <p:cNvSpPr>
            <a:spLocks noGrp="1"/>
          </p:cNvSpPr>
          <p:nvPr>
            <p:ph type="body" sz="quarter" idx="18" hasCustomPrompt="1"/>
          </p:nvPr>
        </p:nvSpPr>
        <p:spPr>
          <a:xfrm>
            <a:off x="294362" y="4513254"/>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Level 1 bullet list (20pt, Arial) &gt; use ‘enter’, then ‘tab’ to create level 2 and 3 sub-bullet lists. </a:t>
            </a:r>
          </a:p>
          <a:p>
            <a:pPr lvl="1"/>
            <a:r>
              <a:rPr lang="en-AU" dirty="0"/>
              <a:t>Level 2 bullet list (16pt, Arial)</a:t>
            </a:r>
          </a:p>
          <a:p>
            <a:pPr lvl="2"/>
            <a:r>
              <a:rPr lang="en-AU" dirty="0"/>
              <a:t>Level 3 bullet list (14pt, Arial)</a:t>
            </a:r>
          </a:p>
          <a:p>
            <a:endParaRPr lang="en-AU" dirty="0"/>
          </a:p>
          <a:p>
            <a:endParaRPr lang="en-AU" dirty="0"/>
          </a:p>
        </p:txBody>
      </p:sp>
      <p:sp>
        <p:nvSpPr>
          <p:cNvPr id="14" name="Text Placeholder 17">
            <a:extLst>
              <a:ext uri="{FF2B5EF4-FFF2-40B4-BE49-F238E27FC236}">
                <a16:creationId xmlns:a16="http://schemas.microsoft.com/office/drawing/2014/main" xmlns="" id="{7017B2EC-6CC6-46B0-A700-31BC918FDD36}"/>
              </a:ext>
            </a:extLst>
          </p:cNvPr>
          <p:cNvSpPr>
            <a:spLocks noGrp="1"/>
          </p:cNvSpPr>
          <p:nvPr>
            <p:ph type="body" sz="quarter" idx="19" hasCustomPrompt="1"/>
          </p:nvPr>
        </p:nvSpPr>
        <p:spPr>
          <a:xfrm>
            <a:off x="306361" y="2131370"/>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p:txBody>
      </p:sp>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Bullet list, one column (20pt, Arial)</a:t>
            </a:r>
          </a:p>
          <a:p>
            <a:pPr lvl="1"/>
            <a:r>
              <a:rPr lang="en-AU" dirty="0"/>
              <a:t>Level 2 bullet list (16pt, Arial)</a:t>
            </a:r>
          </a:p>
          <a:p>
            <a:pPr lvl="2"/>
            <a:r>
              <a:rPr lang="en-AU" dirty="0"/>
              <a:t>Level 3 bullet list (14pt,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Bullet list, two column (20pt, Arial) </a:t>
            </a:r>
          </a:p>
          <a:p>
            <a:pPr lvl="1"/>
            <a:r>
              <a:rPr lang="en-AU" dirty="0"/>
              <a:t>Level 2 bullet list (16pt, Arial)</a:t>
            </a:r>
          </a:p>
          <a:p>
            <a:pPr lvl="2"/>
            <a:r>
              <a:rPr lang="en-AU" dirty="0"/>
              <a:t>Level 3 bullet list (14pt, Arial)</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
        <p:nvSpPr>
          <p:cNvPr id="12" name="Text Placeholder 17">
            <a:extLst>
              <a:ext uri="{FF2B5EF4-FFF2-40B4-BE49-F238E27FC236}">
                <a16:creationId xmlns:a16="http://schemas.microsoft.com/office/drawing/2014/main" xmlns="" id="{3B205BC4-90F4-41C2-9740-8B9731D9D192}"/>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13" name="Text Placeholder 17">
            <a:extLst>
              <a:ext uri="{FF2B5EF4-FFF2-40B4-BE49-F238E27FC236}">
                <a16:creationId xmlns:a16="http://schemas.microsoft.com/office/drawing/2014/main" xmlns="" id="{C916FAF3-DF47-4D39-B6F1-D0B18A97188A}"/>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13" name="Text Placeholder 17">
            <a:extLst>
              <a:ext uri="{FF2B5EF4-FFF2-40B4-BE49-F238E27FC236}">
                <a16:creationId xmlns:a16="http://schemas.microsoft.com/office/drawing/2014/main" xmlns="" id="{13C6D13E-CFCB-47C9-B8DB-2A2A8DC4D5A2}"/>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39705099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xmlns="" id="{67282DD7-96C3-4509-A677-F213216B4011}"/>
              </a:ext>
            </a:extLst>
          </p:cNvPr>
          <p:cNvSpPr>
            <a:spLocks noGrp="1"/>
          </p:cNvSpPr>
          <p:nvPr>
            <p:ph type="body" sz="quarter" idx="14"/>
          </p:nvPr>
        </p:nvSpPr>
        <p:spPr>
          <a:xfrm>
            <a:off x="1033424" y="2405132"/>
            <a:ext cx="7451725" cy="401647"/>
          </a:xfrm>
        </p:spPr>
        <p:txBody>
          <a:bodyPr/>
          <a:lstStyle/>
          <a:p>
            <a:pPr algn="l"/>
            <a:r>
              <a:rPr lang="en-AU" sz="2400" dirty="0">
                <a:solidFill>
                  <a:srgbClr val="000000"/>
                </a:solidFill>
                <a:effectLst/>
                <a:latin typeface="Arial Narrow" panose="020B0604020202020204" pitchFamily="34" charset="0"/>
                <a:cs typeface="Arial Narrow" panose="020B0604020202020204" pitchFamily="34" charset="0"/>
              </a:rPr>
              <a:t>Acknowledgement of Country</a:t>
            </a:r>
          </a:p>
        </p:txBody>
      </p:sp>
      <p:sp>
        <p:nvSpPr>
          <p:cNvPr id="7" name="Text Placeholder 6">
            <a:extLst>
              <a:ext uri="{FF2B5EF4-FFF2-40B4-BE49-F238E27FC236}">
                <a16:creationId xmlns:a16="http://schemas.microsoft.com/office/drawing/2014/main" xmlns="" id="{0478BC3B-6EB1-4396-968D-F2E452D96F1A}"/>
              </a:ext>
            </a:extLst>
          </p:cNvPr>
          <p:cNvSpPr>
            <a:spLocks noGrp="1"/>
          </p:cNvSpPr>
          <p:nvPr>
            <p:ph type="body" sz="quarter" idx="19"/>
          </p:nvPr>
        </p:nvSpPr>
        <p:spPr>
          <a:xfrm>
            <a:off x="1033424" y="3021485"/>
            <a:ext cx="7451725" cy="1729430"/>
          </a:xfrm>
        </p:spPr>
        <p:txBody>
          <a:bodyPr/>
          <a:lstStyle/>
          <a:p>
            <a:pPr marL="0" indent="0">
              <a:lnSpc>
                <a:spcPct val="100000"/>
              </a:lnSpc>
              <a:buNone/>
            </a:pPr>
            <a:r>
              <a:rPr lang="en-AU" i="0" dirty="0">
                <a:solidFill>
                  <a:srgbClr val="505050"/>
                </a:solidFill>
                <a:effectLst/>
                <a:latin typeface="Arial" panose="020B0604020202020204" pitchFamily="34" charset="0"/>
              </a:rPr>
              <a:t>Monash University recognises that its Australian campuses are located on the unceded lands of the people of the Kulin Nations, and pays its respects to </a:t>
            </a:r>
            <a:r>
              <a:rPr lang="en-AU" i="0">
                <a:solidFill>
                  <a:srgbClr val="505050"/>
                </a:solidFill>
                <a:effectLst/>
                <a:latin typeface="Arial" panose="020B0604020202020204" pitchFamily="34" charset="0"/>
              </a:rPr>
              <a:t>their </a:t>
            </a:r>
            <a:r>
              <a:rPr lang="en-AU" i="0" smtClean="0">
                <a:solidFill>
                  <a:srgbClr val="505050"/>
                </a:solidFill>
                <a:effectLst/>
                <a:latin typeface="Arial" panose="020B0604020202020204" pitchFamily="34" charset="0"/>
              </a:rPr>
              <a:t>Elders</a:t>
            </a:r>
            <a:r>
              <a:rPr lang="en-AU" i="0" dirty="0">
                <a:solidFill>
                  <a:srgbClr val="505050"/>
                </a:solidFill>
                <a:effectLst/>
                <a:latin typeface="Arial" panose="020B0604020202020204" pitchFamily="34" charset="0"/>
              </a:rPr>
              <a:t>, past and present.</a:t>
            </a:r>
            <a:endParaRPr lang="en-AU" dirty="0"/>
          </a:p>
        </p:txBody>
      </p:sp>
    </p:spTree>
    <p:extLst>
      <p:ext uri="{BB962C8B-B14F-4D97-AF65-F5344CB8AC3E}">
        <p14:creationId xmlns:p14="http://schemas.microsoft.com/office/powerpoint/2010/main" val="1825078649"/>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SOUNDSENTINAL: DETECTING DEEPFAKE SPEECH</a:t>
            </a:r>
          </a:p>
        </p:txBody>
      </p:sp>
      <p:sp>
        <p:nvSpPr>
          <p:cNvPr id="3" name="Text Placeholder 2"/>
          <p:cNvSpPr>
            <a:spLocks noGrp="1"/>
          </p:cNvSpPr>
          <p:nvPr>
            <p:ph type="body" idx="12" sz="quarter"/>
          </p:nvPr>
        </p:nvSpPr>
        <p:spPr/>
        <p:txBody>
          <a:bodyPr/>
          <a:lstStyle/>
          <a:p>
            <a:r>
              <a:t>FYP B FINAL PRESENTATION · OCTOBER 2026</a:t>
            </a:r>
          </a:p>
        </p:txBody>
      </p:sp>
      <p:sp>
        <p:nvSpPr>
          <p:cNvPr id="4" name="Text Placeholder 3"/>
          <p:cNvSpPr>
            <a:spLocks noGrp="1"/>
          </p:cNvSpPr>
          <p:nvPr>
            <p:ph type="body" idx="13" sz="quarter"/>
          </p:nvPr>
        </p:nvSpPr>
        <p:spPr/>
        <p:txBody>
          <a:bodyPr/>
          <a:lstStyle/>
          <a:p>
            <a:r>
              <a:t>IS THAT VOICE REAL?</a:t>
            </a:r>
          </a:p>
        </p:txBody>
      </p:sp>
      <p:sp>
        <p:nvSpPr>
          <p:cNvPr id="5" name="Text Placeholder 4"/>
          <p:cNvSpPr>
            <a:spLocks noGrp="1"/>
          </p:cNvSpPr>
          <p:nvPr>
            <p:ph type="body" idx="14" sz="quarter"/>
          </p:nvPr>
        </p:nvSpPr>
        <p:spPr/>
        <p:txBody>
          <a:bodyPr/>
          <a:lstStyle/>
          <a:p>
            <a:r>
              <a:t>MOHID KHANZADA · AMAAN MUHAMMAD · FARHAN MOHAMMED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TWO CLIPS FROM OUR TEST DATA</a:t>
            </a:r>
          </a:p>
        </p:txBody>
      </p:sp>
      <p:sp>
        <p:nvSpPr>
          <p:cNvPr id="3" name="Text Placeholder 2"/>
          <p:cNvSpPr>
            <a:spLocks noGrp="1"/>
          </p:cNvSpPr>
          <p:nvPr>
            <p:ph type="body" idx="13" sz="quarter"/>
          </p:nvPr>
        </p:nvSpPr>
        <p:spPr/>
        <p:txBody>
          <a:bodyPr/>
          <a:lstStyle/>
          <a:p>
            <a:r>
              <a:t>WHICH ONE IS FAKE?</a:t>
            </a:r>
          </a:p>
        </p:txBody>
      </p:sp>
      <p:sp>
        <p:nvSpPr>
          <p:cNvPr id="4" name="Rounded Rectangle 3"/>
          <p:cNvSpPr/>
          <p:nvPr/>
        </p:nvSpPr>
        <p:spPr>
          <a:xfrm>
            <a:off x="548640" y="2103120"/>
            <a:ext cx="5349240" cy="2926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Isosceles Triangle 4"/>
          <p:cNvSpPr/>
          <p:nvPr/>
        </p:nvSpPr>
        <p:spPr>
          <a:xfrm rot="5400000">
            <a:off x="960120" y="2468880"/>
            <a:ext cx="457200" cy="457200"/>
          </a:xfrm>
          <a:prstGeom prst="triangl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45919" y="2487168"/>
            <a:ext cx="3657600" cy="457200"/>
          </a:xfrm>
          <a:prstGeom prst="rect">
            <a:avLst/>
          </a:prstGeom>
          <a:noFill/>
        </p:spPr>
        <p:txBody>
          <a:bodyPr wrap="square" lIns="0" rIns="0" tIns="0" bIns="0" anchor="t">
            <a:spAutoFit/>
          </a:bodyPr>
          <a:lstStyle/>
          <a:p>
            <a:pPr algn="l">
              <a:spcAft>
                <a:spcPts val="400"/>
              </a:spcAft>
            </a:pPr>
            <a:r>
              <a:rPr sz="2400" b="1">
                <a:solidFill>
                  <a:srgbClr val="1A1A1A"/>
                </a:solidFill>
                <a:latin typeface="Arial Narrow"/>
              </a:rPr>
              <a:t>CLIP A</a:t>
            </a:r>
          </a:p>
        </p:txBody>
      </p:sp>
      <p:sp>
        <p:nvSpPr>
          <p:cNvPr id="7" name="Rounded Rectangle 6"/>
          <p:cNvSpPr/>
          <p:nvPr/>
        </p:nvSpPr>
        <p:spPr>
          <a:xfrm>
            <a:off x="960120"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30843" y="3844366"/>
            <a:ext cx="43848" cy="8366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01566" y="3829964"/>
            <a:ext cx="43848" cy="11247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172289" y="3775786"/>
            <a:ext cx="43848" cy="22082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43012" y="3423285"/>
            <a:ext cx="43848" cy="92583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13735" y="3386251"/>
            <a:ext cx="43848" cy="9998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84458" y="3722979"/>
            <a:ext cx="43848" cy="3264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55181" y="3367049"/>
            <a:ext cx="43848" cy="10383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525905" y="3360191"/>
            <a:ext cx="43848" cy="105201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96628" y="3594049"/>
            <a:ext cx="43848" cy="5843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667351" y="3771671"/>
            <a:ext cx="43848" cy="22905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738074" y="3760698"/>
            <a:ext cx="43848" cy="25100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808797" y="3326587"/>
            <a:ext cx="43848" cy="111922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879520" y="3360877"/>
            <a:ext cx="43848" cy="105064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950243" y="3508324"/>
            <a:ext cx="43848" cy="75575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20966" y="3544671"/>
            <a:ext cx="43848" cy="68305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091690" y="3200400"/>
            <a:ext cx="43848" cy="13716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62413" y="3261436"/>
            <a:ext cx="43848" cy="124952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33136" y="3360877"/>
            <a:ext cx="43848" cy="105064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03859" y="3266922"/>
            <a:ext cx="43848" cy="12385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374582" y="3253206"/>
            <a:ext cx="43848" cy="126598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445305" y="3382822"/>
            <a:ext cx="43848" cy="10067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16028" y="3680460"/>
            <a:ext cx="43848" cy="41147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586751" y="3671544"/>
            <a:ext cx="43848" cy="42931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657475" y="3618052"/>
            <a:ext cx="43848" cy="53629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728198" y="3527526"/>
            <a:ext cx="43848" cy="71734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98921" y="3338931"/>
            <a:ext cx="43848" cy="109453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869644" y="3320415"/>
            <a:ext cx="43848" cy="113156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940367" y="3600907"/>
            <a:ext cx="43848" cy="57058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011090" y="3630396"/>
            <a:ext cx="43848" cy="51160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081813" y="3559759"/>
            <a:ext cx="43848" cy="65288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152536" y="3825163"/>
            <a:ext cx="43848" cy="12207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223260" y="3340303"/>
            <a:ext cx="43848" cy="109179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293983" y="3230575"/>
            <a:ext cx="43848" cy="131124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364706" y="3283381"/>
            <a:ext cx="43848" cy="120563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435429" y="3392424"/>
            <a:ext cx="43848" cy="98755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506152" y="3578275"/>
            <a:ext cx="43848" cy="6158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576875" y="3471291"/>
            <a:ext cx="43848" cy="82981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647598" y="3546729"/>
            <a:ext cx="43848" cy="67894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718321" y="3801846"/>
            <a:ext cx="43848" cy="16870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3789045"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859768" y="3798417"/>
            <a:ext cx="43848" cy="17556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930491" y="3342360"/>
            <a:ext cx="43848" cy="108767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001214" y="3393795"/>
            <a:ext cx="43848" cy="98480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4071937" y="3612565"/>
            <a:ext cx="43848" cy="54726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4142660" y="3352647"/>
            <a:ext cx="43848" cy="10671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13383" y="3312185"/>
            <a:ext cx="43848" cy="114802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284106" y="3428771"/>
            <a:ext cx="43848" cy="91485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354830" y="3538499"/>
            <a:ext cx="43848" cy="6954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425553" y="3469919"/>
            <a:ext cx="43848" cy="83256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496276" y="3413683"/>
            <a:ext cx="43848" cy="94503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566999" y="3382137"/>
            <a:ext cx="43848" cy="1008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637722" y="3482263"/>
            <a:ext cx="43848" cy="80787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4708445" y="3792245"/>
            <a:ext cx="43848" cy="18790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779168" y="3842994"/>
            <a:ext cx="43848" cy="8641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84989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4920615" y="3839565"/>
            <a:ext cx="43848" cy="9326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991338"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6206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5132784"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5203507"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5274230"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5344953"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5415676"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263640" y="2103120"/>
            <a:ext cx="5349240" cy="2926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sosceles Triangle 71"/>
          <p:cNvSpPr/>
          <p:nvPr/>
        </p:nvSpPr>
        <p:spPr>
          <a:xfrm rot="5400000">
            <a:off x="6675120" y="2468880"/>
            <a:ext cx="457200" cy="457200"/>
          </a:xfrm>
          <a:prstGeom prst="triangl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60919" y="2487168"/>
            <a:ext cx="3657600" cy="457200"/>
          </a:xfrm>
          <a:prstGeom prst="rect">
            <a:avLst/>
          </a:prstGeom>
          <a:noFill/>
        </p:spPr>
        <p:txBody>
          <a:bodyPr wrap="square" lIns="0" rIns="0" tIns="0" bIns="0" anchor="t">
            <a:spAutoFit/>
          </a:bodyPr>
          <a:lstStyle/>
          <a:p>
            <a:pPr algn="l">
              <a:spcAft>
                <a:spcPts val="400"/>
              </a:spcAft>
            </a:pPr>
            <a:r>
              <a:rPr sz="2400" b="1">
                <a:solidFill>
                  <a:srgbClr val="1A1A1A"/>
                </a:solidFill>
                <a:latin typeface="Arial Narrow"/>
              </a:rPr>
              <a:t>CLIP B</a:t>
            </a:r>
          </a:p>
        </p:txBody>
      </p:sp>
      <p:sp>
        <p:nvSpPr>
          <p:cNvPr id="74" name="Rounded Rectangle 73"/>
          <p:cNvSpPr/>
          <p:nvPr/>
        </p:nvSpPr>
        <p:spPr>
          <a:xfrm>
            <a:off x="6675120"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6745843" y="3844366"/>
            <a:ext cx="43848" cy="8366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6816566" y="3835450"/>
            <a:ext cx="43848" cy="10149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6887289"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6958012"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7028735"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7099458" y="3841623"/>
            <a:ext cx="43848" cy="891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717018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7240905"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7311628" y="3840251"/>
            <a:ext cx="43848" cy="9189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7382351"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453074"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7523797"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7594520"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7665243"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7735966"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7806690" y="3835450"/>
            <a:ext cx="43848" cy="10149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7877413" y="3836136"/>
            <a:ext cx="43848" cy="100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7948136"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8018859" y="3832707"/>
            <a:ext cx="43848" cy="1069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8089582"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8160305" y="3832021"/>
            <a:ext cx="43848" cy="10835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8231028"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8301751" y="3843680"/>
            <a:ext cx="43848" cy="850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8372475" y="3815562"/>
            <a:ext cx="43848" cy="14127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8443198" y="3503523"/>
            <a:ext cx="43848" cy="76535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513921" y="3386937"/>
            <a:ext cx="43848" cy="99852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8584644" y="3337560"/>
            <a:ext cx="43848" cy="109728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8655367" y="3290925"/>
            <a:ext cx="43848" cy="11905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8726090" y="3285439"/>
            <a:ext cx="43848" cy="120152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8796813" y="3345103"/>
            <a:ext cx="43848" cy="108219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8867536" y="3631082"/>
            <a:ext cx="43848" cy="51023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8938260" y="3614623"/>
            <a:ext cx="43848" cy="54315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9008983" y="3780586"/>
            <a:ext cx="43848" cy="2112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9079706" y="3706520"/>
            <a:ext cx="43848" cy="35935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9150429" y="3200400"/>
            <a:ext cx="43848" cy="13716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9221152" y="3239490"/>
            <a:ext cx="43848" cy="129341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291875" y="3318357"/>
            <a:ext cx="43848" cy="11356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362598" y="3419856"/>
            <a:ext cx="43848" cy="93268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ounded Rectangle 112"/>
          <p:cNvSpPr/>
          <p:nvPr/>
        </p:nvSpPr>
        <p:spPr>
          <a:xfrm>
            <a:off x="9433321" y="3397910"/>
            <a:ext cx="43848" cy="97657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9504045" y="3432200"/>
            <a:ext cx="43848" cy="90799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9574768" y="3721608"/>
            <a:ext cx="43848" cy="3291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9645491" y="3468547"/>
            <a:ext cx="43848" cy="8353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9716214" y="3485692"/>
            <a:ext cx="43848" cy="80101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9786937" y="3725037"/>
            <a:ext cx="43848" cy="3223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9857660" y="3462375"/>
            <a:ext cx="43848" cy="8476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9928383" y="3382137"/>
            <a:ext cx="43848" cy="1008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9999106" y="3485692"/>
            <a:ext cx="43848" cy="80101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0069830" y="3637940"/>
            <a:ext cx="43848" cy="49651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0140553" y="3783330"/>
            <a:ext cx="43848" cy="2057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0211276" y="3820363"/>
            <a:ext cx="43848" cy="13167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10281999" y="3843680"/>
            <a:ext cx="43848" cy="850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10352722" y="3754526"/>
            <a:ext cx="43848" cy="26334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0423445" y="3772357"/>
            <a:ext cx="43848" cy="22768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0494168" y="3804589"/>
            <a:ext cx="43848" cy="16322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10564891" y="3811447"/>
            <a:ext cx="43848" cy="1495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10635615"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ounded Rectangle 130"/>
          <p:cNvSpPr/>
          <p:nvPr/>
        </p:nvSpPr>
        <p:spPr>
          <a:xfrm>
            <a:off x="10706338"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10777061" y="3833393"/>
            <a:ext cx="43848" cy="10561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847784"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10918507" y="3818991"/>
            <a:ext cx="43848" cy="13441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10989230"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11059953" y="3837508"/>
            <a:ext cx="43848" cy="9738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11130676"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48640" y="5349240"/>
            <a:ext cx="11064240" cy="45720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Play both from the home page of soundsentinal.mohidkhanzada.workers.dev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 CLONED VOICE NOW COSTS SECONDS</a:t>
            </a:r>
          </a:p>
        </p:txBody>
      </p:sp>
      <p:sp>
        <p:nvSpPr>
          <p:cNvPr id="3" name="Text Placeholder 2"/>
          <p:cNvSpPr>
            <a:spLocks noGrp="1"/>
          </p:cNvSpPr>
          <p:nvPr>
            <p:ph type="body" idx="13" sz="quarter"/>
          </p:nvPr>
        </p:nvSpPr>
        <p:spPr/>
        <p:txBody>
          <a:bodyPr/>
          <a:lstStyle/>
          <a:p>
            <a:r>
              <a:t>WHY THIS MATTERS</a:t>
            </a:r>
          </a:p>
        </p:txBody>
      </p:sp>
      <p:sp>
        <p:nvSpPr>
          <p:cNvPr id="4" name="TextBox 3"/>
          <p:cNvSpPr txBox="1"/>
          <p:nvPr/>
        </p:nvSpPr>
        <p:spPr>
          <a:xfrm>
            <a:off x="365760" y="1828800"/>
            <a:ext cx="237744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€220,000</a:t>
            </a:r>
          </a:p>
        </p:txBody>
      </p:sp>
      <p:sp>
        <p:nvSpPr>
          <p:cNvPr id="5" name="TextBox 4"/>
          <p:cNvSpPr txBox="1"/>
          <p:nvPr/>
        </p:nvSpPr>
        <p:spPr>
          <a:xfrm>
            <a:off x="365760" y="2606040"/>
            <a:ext cx="237744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sent after a call that cloned a CEO's voice (2019)</a:t>
            </a:r>
          </a:p>
        </p:txBody>
      </p:sp>
      <p:sp>
        <p:nvSpPr>
          <p:cNvPr id="6" name="TextBox 5"/>
          <p:cNvSpPr txBox="1"/>
          <p:nvPr/>
        </p:nvSpPr>
        <p:spPr>
          <a:xfrm>
            <a:off x="2880360" y="1828800"/>
            <a:ext cx="228600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1 clip</a:t>
            </a:r>
          </a:p>
        </p:txBody>
      </p:sp>
      <p:sp>
        <p:nvSpPr>
          <p:cNvPr id="7" name="TextBox 6"/>
          <p:cNvSpPr txBox="1"/>
          <p:nvPr/>
        </p:nvSpPr>
        <p:spPr>
          <a:xfrm>
            <a:off x="2880360" y="2606040"/>
            <a:ext cx="228600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is all most people have, and no expert to ask</a:t>
            </a:r>
          </a:p>
        </p:txBody>
      </p:sp>
      <p:sp>
        <p:nvSpPr>
          <p:cNvPr id="8" name="TextBox 7"/>
          <p:cNvSpPr txBox="1"/>
          <p:nvPr/>
        </p:nvSpPr>
        <p:spPr>
          <a:xfrm>
            <a:off x="5303520" y="1828800"/>
            <a:ext cx="237744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98.9%</a:t>
            </a:r>
          </a:p>
        </p:txBody>
      </p:sp>
      <p:sp>
        <p:nvSpPr>
          <p:cNvPr id="9" name="TextBox 8"/>
          <p:cNvSpPr txBox="1"/>
          <p:nvPr/>
        </p:nvSpPr>
        <p:spPr>
          <a:xfrm>
            <a:off x="5303520" y="2606040"/>
            <a:ext cx="237744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the kind of single accuracy claim detectors make</a:t>
            </a:r>
          </a:p>
        </p:txBody>
      </p:sp>
      <p:sp>
        <p:nvSpPr>
          <p:cNvPr id="10" name="Rounded Rectangle 9"/>
          <p:cNvSpPr/>
          <p:nvPr/>
        </p:nvSpPr>
        <p:spPr>
          <a:xfrm>
            <a:off x="365760" y="3886200"/>
            <a:ext cx="356616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069080"/>
            <a:ext cx="3154680" cy="1554480"/>
          </a:xfrm>
          <a:prstGeom prst="rect">
            <a:avLst/>
          </a:prstGeom>
          <a:noFill/>
        </p:spPr>
        <p:txBody>
          <a:bodyPr wrap="square" lIns="0" rIns="0" tIns="0" bIns="0" anchor="t">
            <a:spAutoFit/>
          </a:bodyPr>
          <a:lstStyle/>
          <a:p>
            <a:pPr algn="l">
              <a:spcAft>
                <a:spcPts val="400"/>
              </a:spcAft>
            </a:pPr>
            <a:r>
              <a:rPr sz="1800" b="1">
                <a:solidFill>
                  <a:srgbClr val="C44E1F"/>
                </a:solidFill>
                <a:latin typeface="Arial"/>
              </a:rPr>
              <a:t>Flag a real voice</a:t>
            </a:r>
          </a:p>
          <a:p>
            <a:pPr algn="l">
              <a:spcAft>
                <a:spcPts val="400"/>
              </a:spcAft>
            </a:pPr>
            <a:r>
              <a:rPr sz="1500" b="0">
                <a:solidFill>
                  <a:srgbClr val="1A1A1A"/>
                </a:solidFill>
                <a:latin typeface="Arial"/>
              </a:rPr>
              <a:t>You accuse a real person of faking it.</a:t>
            </a:r>
          </a:p>
        </p:txBody>
      </p:sp>
      <p:sp>
        <p:nvSpPr>
          <p:cNvPr id="12" name="Rounded Rectangle 11"/>
          <p:cNvSpPr/>
          <p:nvPr/>
        </p:nvSpPr>
        <p:spPr>
          <a:xfrm>
            <a:off x="4114800" y="3886200"/>
            <a:ext cx="356616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4069080"/>
            <a:ext cx="3154680" cy="155448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Miss a fake</a:t>
            </a:r>
          </a:p>
          <a:p>
            <a:pPr algn="l">
              <a:spcAft>
                <a:spcPts val="400"/>
              </a:spcAft>
            </a:pPr>
            <a:r>
              <a:rPr sz="1500" b="0">
                <a:solidFill>
                  <a:srgbClr val="1A1A1A"/>
                </a:solidFill>
                <a:latin typeface="Arial"/>
              </a:rPr>
              <a:t>You fail to protect the person being scammed.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 LIVE DETECTOR ANYONE CAN USE</a:t>
            </a:r>
          </a:p>
        </p:txBody>
      </p:sp>
      <p:sp>
        <p:nvSpPr>
          <p:cNvPr id="3" name="Text Placeholder 2"/>
          <p:cNvSpPr>
            <a:spLocks noGrp="1"/>
          </p:cNvSpPr>
          <p:nvPr>
            <p:ph type="body" idx="13" sz="quarter"/>
          </p:nvPr>
        </p:nvSpPr>
        <p:spPr/>
        <p:txBody>
          <a:bodyPr/>
          <a:lstStyle/>
          <a:p>
            <a:r>
              <a:t>WHAT WE BUILT</a:t>
            </a:r>
          </a:p>
        </p:txBody>
      </p:sp>
      <p:pic>
        <p:nvPicPr>
          <p:cNvPr id="4" name="Picture 3" descr="image.png"/>
          <p:cNvPicPr>
            <a:picLocks noChangeAspect="1"/>
          </p:cNvPicPr>
          <p:nvPr/>
        </p:nvPicPr>
        <p:blipFill>
          <a:blip r:embed="rId2"/>
          <a:stretch>
            <a:fillRect/>
          </a:stretch>
        </p:blipFill>
        <p:spPr>
          <a:xfrm>
            <a:off x="457200" y="1691640"/>
            <a:ext cx="6949440" cy="4343400"/>
          </a:xfrm>
          <a:prstGeom prst="rect">
            <a:avLst/>
          </a:prstGeom>
        </p:spPr>
      </p:pic>
      <p:sp>
        <p:nvSpPr>
          <p:cNvPr id="5" name="TextBox 4"/>
          <p:cNvSpPr txBox="1"/>
          <p:nvPr/>
        </p:nvSpPr>
        <p:spPr>
          <a:xfrm>
            <a:off x="7772400" y="2834640"/>
            <a:ext cx="3931920" cy="3108960"/>
          </a:xfrm>
          <a:prstGeom prst="rect">
            <a:avLst/>
          </a:prstGeom>
          <a:noFill/>
        </p:spPr>
        <p:txBody>
          <a:bodyPr wrap="square" lIns="0" rIns="0" tIns="0" bIns="0" anchor="t">
            <a:spAutoFit/>
          </a:bodyPr>
          <a:lstStyle/>
          <a:p>
            <a:pPr algn="l">
              <a:spcAft>
                <a:spcPts val="400"/>
              </a:spcAft>
            </a:pPr>
            <a:r>
              <a:rPr sz="2200" b="1">
                <a:solidFill>
                  <a:srgbClr val="006DAE"/>
                </a:solidFill>
                <a:latin typeface="Arial"/>
              </a:rPr>
              <a:t>Live demo</a:t>
            </a:r>
          </a:p>
          <a:p>
            <a:pPr algn="l">
              <a:spcAft>
                <a:spcPts val="400"/>
              </a:spcAft>
            </a:pPr>
            <a:r>
              <a:rPr sz="1600" b="0">
                <a:solidFill>
                  <a:srgbClr val="1A1A1A"/>
                </a:solidFill>
                <a:latin typeface="Arial"/>
              </a:rPr>
              <a:t>Upload a voice note, call or video.</a:t>
            </a:r>
          </a:p>
          <a:p>
            <a:pPr algn="l">
              <a:spcAft>
                <a:spcPts val="400"/>
              </a:spcAft>
            </a:pPr>
            <a:r>
              <a:rPr sz="1600" b="0">
                <a:solidFill>
                  <a:srgbClr val="1A1A1A"/>
                </a:solidFill>
                <a:latin typeface="Arial"/>
              </a:rPr>
              <a:t>Get a score against a line drawn on screen.</a:t>
            </a:r>
          </a:p>
          <a:p>
            <a:pPr algn="l">
              <a:spcAft>
                <a:spcPts val="400"/>
              </a:spcAft>
            </a:pPr>
            <a:r>
              <a:rPr sz="1600" b="0">
                <a:solidFill>
                  <a:srgbClr val="1A1A1A"/>
                </a:solidFill>
                <a:latin typeface="Arial"/>
              </a:rPr>
              <a:t>See how often the model is wrong.</a:t>
            </a:r>
          </a:p>
          <a:p>
            <a:pPr algn="l">
              <a:spcAft>
                <a:spcPts val="400"/>
              </a:spcAft>
            </a:pPr>
            <a:r>
              <a:rPr sz="1300" b="0">
                <a:solidFill>
                  <a:srgbClr val="595959"/>
                </a:solidFill>
                <a:latin typeface="Arial"/>
              </a:rPr>
              <a:t>soundsentinal.mohidkhanzada.workers.dev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FROM A CLIP TO A READING IN ABOUT A SECOND</a:t>
            </a:r>
          </a:p>
        </p:txBody>
      </p:sp>
      <p:sp>
        <p:nvSpPr>
          <p:cNvPr id="3" name="Text Placeholder 2"/>
          <p:cNvSpPr>
            <a:spLocks noGrp="1"/>
          </p:cNvSpPr>
          <p:nvPr>
            <p:ph type="body" idx="13" sz="quarter"/>
          </p:nvPr>
        </p:nvSpPr>
        <p:spPr/>
        <p:txBody>
          <a:bodyPr/>
          <a:lstStyle/>
          <a:p>
            <a:r>
              <a:t>HOW IT WORKS</a:t>
            </a:r>
          </a:p>
        </p:txBody>
      </p:sp>
      <p:sp>
        <p:nvSpPr>
          <p:cNvPr id="4" name="Rounded Rectangle 3"/>
          <p:cNvSpPr/>
          <p:nvPr/>
        </p:nvSpPr>
        <p:spPr>
          <a:xfrm>
            <a:off x="502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Upload</a:t>
            </a:r>
          </a:p>
        </p:txBody>
      </p:sp>
      <p:sp>
        <p:nvSpPr>
          <p:cNvPr id="6" name="TextBox 5"/>
          <p:cNvSpPr txBox="1"/>
          <p:nvPr/>
        </p:nvSpPr>
        <p:spPr>
          <a:xfrm>
            <a:off x="685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audio or video;</a:t>
            </a:r>
          </a:p>
          <a:p>
            <a:pPr algn="l">
              <a:spcAft>
                <a:spcPts val="400"/>
              </a:spcAft>
            </a:pPr>
            <a:r>
              <a:rPr sz="1300" b="0">
                <a:solidFill>
                  <a:srgbClr val="1A1A1A"/>
                </a:solidFill>
                <a:latin typeface="Arial"/>
              </a:rPr>
              <a:t>never stored</a:t>
            </a:r>
          </a:p>
        </p:txBody>
      </p:sp>
      <p:sp>
        <p:nvSpPr>
          <p:cNvPr id="7" name="Right Arrow 6"/>
          <p:cNvSpPr/>
          <p:nvPr/>
        </p:nvSpPr>
        <p:spPr>
          <a:xfrm>
            <a:off x="2441447"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88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Prepare</a:t>
            </a:r>
          </a:p>
        </p:txBody>
      </p:sp>
      <p:sp>
        <p:nvSpPr>
          <p:cNvPr id="10" name="TextBox 9"/>
          <p:cNvSpPr txBox="1"/>
          <p:nvPr/>
        </p:nvSpPr>
        <p:spPr>
          <a:xfrm>
            <a:off x="2971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16 kHz mono,</a:t>
            </a:r>
          </a:p>
          <a:p>
            <a:pPr algn="l">
              <a:spcAft>
                <a:spcPts val="400"/>
              </a:spcAft>
            </a:pPr>
            <a:r>
              <a:rPr sz="1300" b="0">
                <a:solidFill>
                  <a:srgbClr val="1A1A1A"/>
                </a:solidFill>
                <a:latin typeface="Arial"/>
              </a:rPr>
              <a:t>first 4 seconds</a:t>
            </a:r>
          </a:p>
        </p:txBody>
      </p:sp>
      <p:sp>
        <p:nvSpPr>
          <p:cNvPr id="11" name="Right Arrow 10"/>
          <p:cNvSpPr/>
          <p:nvPr/>
        </p:nvSpPr>
        <p:spPr>
          <a:xfrm>
            <a:off x="4727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Listen</a:t>
            </a:r>
          </a:p>
        </p:txBody>
      </p:sp>
      <p:sp>
        <p:nvSpPr>
          <p:cNvPr id="14" name="TextBox 13"/>
          <p:cNvSpPr txBox="1"/>
          <p:nvPr/>
        </p:nvSpPr>
        <p:spPr>
          <a:xfrm>
            <a:off x="5257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speech model pre-trained</a:t>
            </a:r>
          </a:p>
          <a:p>
            <a:pPr algn="l">
              <a:spcAft>
                <a:spcPts val="400"/>
              </a:spcAft>
            </a:pPr>
            <a:r>
              <a:rPr sz="1300" b="0">
                <a:solidFill>
                  <a:srgbClr val="1A1A1A"/>
                </a:solidFill>
                <a:latin typeface="Arial"/>
              </a:rPr>
              <a:t>on 128 languages</a:t>
            </a:r>
          </a:p>
        </p:txBody>
      </p:sp>
      <p:sp>
        <p:nvSpPr>
          <p:cNvPr id="15" name="Right Arrow 14"/>
          <p:cNvSpPr/>
          <p:nvPr/>
        </p:nvSpPr>
        <p:spPr>
          <a:xfrm>
            <a:off x="7013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60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Score</a:t>
            </a:r>
          </a:p>
        </p:txBody>
      </p:sp>
      <p:sp>
        <p:nvSpPr>
          <p:cNvPr id="18" name="TextBox 17"/>
          <p:cNvSpPr txBox="1"/>
          <p:nvPr/>
        </p:nvSpPr>
        <p:spPr>
          <a:xfrm>
            <a:off x="7543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how synthetic</a:t>
            </a:r>
          </a:p>
          <a:p>
            <a:pPr algn="l">
              <a:spcAft>
                <a:spcPts val="400"/>
              </a:spcAft>
            </a:pPr>
            <a:r>
              <a:rPr sz="1300" b="0">
                <a:solidFill>
                  <a:srgbClr val="1A1A1A"/>
                </a:solidFill>
                <a:latin typeface="Arial"/>
              </a:rPr>
              <a:t>it sounds</a:t>
            </a:r>
          </a:p>
        </p:txBody>
      </p:sp>
      <p:sp>
        <p:nvSpPr>
          <p:cNvPr id="19" name="Right Arrow 18"/>
          <p:cNvSpPr/>
          <p:nvPr/>
        </p:nvSpPr>
        <p:spPr>
          <a:xfrm>
            <a:off x="9299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46920" y="1965960"/>
            <a:ext cx="1874519" cy="169164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2148840"/>
            <a:ext cx="1508760" cy="457200"/>
          </a:xfrm>
          <a:prstGeom prst="rect">
            <a:avLst/>
          </a:prstGeom>
          <a:noFill/>
        </p:spPr>
        <p:txBody>
          <a:bodyPr wrap="square" lIns="0" rIns="0" tIns="0" bIns="0" anchor="t">
            <a:spAutoFit/>
          </a:bodyPr>
          <a:lstStyle/>
          <a:p>
            <a:pPr algn="l">
              <a:spcAft>
                <a:spcPts val="400"/>
              </a:spcAft>
            </a:pPr>
            <a:r>
              <a:rPr sz="2000" b="1">
                <a:solidFill>
                  <a:srgbClr val="FFFFFF"/>
                </a:solidFill>
                <a:latin typeface="Arial"/>
              </a:rPr>
              <a:t>Compare</a:t>
            </a:r>
          </a:p>
        </p:txBody>
      </p:sp>
      <p:sp>
        <p:nvSpPr>
          <p:cNvPr id="22" name="TextBox 21"/>
          <p:cNvSpPr txBox="1"/>
          <p:nvPr/>
        </p:nvSpPr>
        <p:spPr>
          <a:xfrm>
            <a:off x="9829800" y="2697480"/>
            <a:ext cx="1508760" cy="914400"/>
          </a:xfrm>
          <a:prstGeom prst="rect">
            <a:avLst/>
          </a:prstGeom>
          <a:noFill/>
        </p:spPr>
        <p:txBody>
          <a:bodyPr wrap="square" lIns="0" rIns="0" tIns="0" bIns="0" anchor="t">
            <a:spAutoFit/>
          </a:bodyPr>
          <a:lstStyle/>
          <a:p>
            <a:pPr algn="l">
              <a:spcAft>
                <a:spcPts val="400"/>
              </a:spcAft>
            </a:pPr>
            <a:r>
              <a:rPr sz="1300" b="0">
                <a:solidFill>
                  <a:srgbClr val="FFFFFF"/>
                </a:solidFill>
                <a:latin typeface="Arial"/>
              </a:rPr>
              <a:t>with a line set on</a:t>
            </a:r>
          </a:p>
          <a:p>
            <a:pPr algn="l">
              <a:spcAft>
                <a:spcPts val="400"/>
              </a:spcAft>
            </a:pPr>
            <a:r>
              <a:rPr sz="1300" b="0">
                <a:solidFill>
                  <a:srgbClr val="FFFFFF"/>
                </a:solidFill>
                <a:latin typeface="Arial"/>
              </a:rPr>
              <a:t>real speech</a:t>
            </a:r>
          </a:p>
        </p:txBody>
      </p:sp>
      <p:pic>
        <p:nvPicPr>
          <p:cNvPr id="23" name="Picture 22" descr="result.png"/>
          <p:cNvPicPr>
            <a:picLocks noChangeAspect="1"/>
          </p:cNvPicPr>
          <p:nvPr/>
        </p:nvPicPr>
        <p:blipFill>
          <a:blip r:embed="rId2"/>
          <a:stretch>
            <a:fillRect/>
          </a:stretch>
        </p:blipFill>
        <p:spPr>
          <a:xfrm>
            <a:off x="2423160" y="3886200"/>
            <a:ext cx="7315200" cy="205206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THE BENCHMARK MISLED US</a:t>
            </a:r>
          </a:p>
        </p:txBody>
      </p:sp>
      <p:sp>
        <p:nvSpPr>
          <p:cNvPr id="3" name="Text Placeholder 2"/>
          <p:cNvSpPr>
            <a:spLocks noGrp="1"/>
          </p:cNvSpPr>
          <p:nvPr>
            <p:ph type="body" idx="13" sz="quarter"/>
          </p:nvPr>
        </p:nvSpPr>
        <p:spPr/>
        <p:txBody>
          <a:bodyPr/>
          <a:lstStyle/>
          <a:p>
            <a:r>
              <a:t>WHY THESE CHOICES</a:t>
            </a:r>
          </a:p>
        </p:txBody>
      </p:sp>
      <p:sp>
        <p:nvSpPr>
          <p:cNvPr id="4" name="Rounded Rectangle 3"/>
          <p:cNvSpPr/>
          <p:nvPr/>
        </p:nvSpPr>
        <p:spPr>
          <a:xfrm>
            <a:off x="502920" y="1920240"/>
            <a:ext cx="3520440" cy="2514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57400"/>
            <a:ext cx="31089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Small CNN</a:t>
            </a:r>
            <a:r>
              <a:rPr sz="1200" b="0">
                <a:solidFill>
                  <a:srgbClr val="595959"/>
                </a:solidFill>
                <a:latin typeface="Arial"/>
              </a:rPr>
              <a:t>   267k parameters</a:t>
            </a:r>
          </a:p>
        </p:txBody>
      </p:sp>
      <p:sp>
        <p:nvSpPr>
          <p:cNvPr id="6" name="TextBox 5"/>
          <p:cNvSpPr txBox="1"/>
          <p:nvPr/>
        </p:nvSpPr>
        <p:spPr>
          <a:xfrm>
            <a:off x="731520" y="2697480"/>
            <a:ext cx="146304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10.2%</a:t>
            </a:r>
          </a:p>
          <a:p>
            <a:pPr algn="l">
              <a:spcAft>
                <a:spcPts val="400"/>
              </a:spcAft>
            </a:pPr>
            <a:r>
              <a:rPr sz="1200" b="0">
                <a:solidFill>
                  <a:srgbClr val="595959"/>
                </a:solidFill>
                <a:latin typeface="Arial"/>
              </a:rPr>
              <a:t>error on the
benchmark</a:t>
            </a:r>
          </a:p>
        </p:txBody>
      </p:sp>
      <p:sp>
        <p:nvSpPr>
          <p:cNvPr id="7" name="TextBox 6"/>
          <p:cNvSpPr txBox="1"/>
          <p:nvPr/>
        </p:nvSpPr>
        <p:spPr>
          <a:xfrm>
            <a:off x="2331720" y="2697480"/>
            <a:ext cx="155448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58.5%</a:t>
            </a:r>
          </a:p>
          <a:p>
            <a:pPr algn="l">
              <a:spcAft>
                <a:spcPts val="400"/>
              </a:spcAft>
            </a:pPr>
            <a:r>
              <a:rPr sz="1200" b="0">
                <a:solidFill>
                  <a:srgbClr val="595959"/>
                </a:solidFill>
                <a:latin typeface="Arial"/>
              </a:rPr>
              <a:t>error on real-
world audio</a:t>
            </a:r>
          </a:p>
        </p:txBody>
      </p:sp>
      <p:sp>
        <p:nvSpPr>
          <p:cNvPr id="8" name="Rounded Rectangle 7"/>
          <p:cNvSpPr/>
          <p:nvPr/>
        </p:nvSpPr>
        <p:spPr>
          <a:xfrm>
            <a:off x="4297680" y="1920240"/>
            <a:ext cx="3520440" cy="2514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057400"/>
            <a:ext cx="31089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AASIST</a:t>
            </a:r>
            <a:r>
              <a:rPr sz="1200" b="0">
                <a:solidFill>
                  <a:srgbClr val="595959"/>
                </a:solidFill>
                <a:latin typeface="Arial"/>
              </a:rPr>
              <a:t>   297k parameters</a:t>
            </a:r>
          </a:p>
        </p:txBody>
      </p:sp>
      <p:sp>
        <p:nvSpPr>
          <p:cNvPr id="10" name="TextBox 9"/>
          <p:cNvSpPr txBox="1"/>
          <p:nvPr/>
        </p:nvSpPr>
        <p:spPr>
          <a:xfrm>
            <a:off x="4526280" y="2697480"/>
            <a:ext cx="146304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3.2%</a:t>
            </a:r>
          </a:p>
          <a:p>
            <a:pPr algn="l">
              <a:spcAft>
                <a:spcPts val="400"/>
              </a:spcAft>
            </a:pPr>
            <a:r>
              <a:rPr sz="1200" b="0">
                <a:solidFill>
                  <a:srgbClr val="595959"/>
                </a:solidFill>
                <a:latin typeface="Arial"/>
              </a:rPr>
              <a:t>error on the
benchmark</a:t>
            </a:r>
          </a:p>
        </p:txBody>
      </p:sp>
      <p:sp>
        <p:nvSpPr>
          <p:cNvPr id="11" name="TextBox 10"/>
          <p:cNvSpPr txBox="1"/>
          <p:nvPr/>
        </p:nvSpPr>
        <p:spPr>
          <a:xfrm>
            <a:off x="6126480" y="2697480"/>
            <a:ext cx="155448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37.2%</a:t>
            </a:r>
          </a:p>
          <a:p>
            <a:pPr algn="l">
              <a:spcAft>
                <a:spcPts val="400"/>
              </a:spcAft>
            </a:pPr>
            <a:r>
              <a:rPr sz="1200" b="0">
                <a:solidFill>
                  <a:srgbClr val="595959"/>
                </a:solidFill>
                <a:latin typeface="Arial"/>
              </a:rPr>
              <a:t>error on real-
world audio</a:t>
            </a:r>
          </a:p>
        </p:txBody>
      </p:sp>
      <p:sp>
        <p:nvSpPr>
          <p:cNvPr id="12" name="Rounded Rectangle 11"/>
          <p:cNvSpPr/>
          <p:nvPr/>
        </p:nvSpPr>
        <p:spPr>
          <a:xfrm>
            <a:off x="8092440" y="1920240"/>
            <a:ext cx="3520440" cy="251460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057400"/>
            <a:ext cx="3108960" cy="457200"/>
          </a:xfrm>
          <a:prstGeom prst="rect">
            <a:avLst/>
          </a:prstGeom>
          <a:noFill/>
        </p:spPr>
        <p:txBody>
          <a:bodyPr wrap="square" lIns="0" rIns="0" tIns="0" bIns="0" anchor="t">
            <a:spAutoFit/>
          </a:bodyPr>
          <a:lstStyle/>
          <a:p>
            <a:pPr algn="l">
              <a:spcAft>
                <a:spcPts val="400"/>
              </a:spcAft>
            </a:pPr>
            <a:r>
              <a:rPr sz="2000" b="1">
                <a:solidFill>
                  <a:srgbClr val="FFFFFF"/>
                </a:solidFill>
                <a:latin typeface="Arial"/>
              </a:rPr>
              <a:t>SSL-AASIST</a:t>
            </a:r>
            <a:r>
              <a:rPr sz="1200" b="0">
                <a:solidFill>
                  <a:srgbClr val="FFFFFF"/>
                </a:solidFill>
                <a:latin typeface="Arial"/>
              </a:rPr>
              <a:t>   316M, pre-trained</a:t>
            </a:r>
          </a:p>
        </p:txBody>
      </p:sp>
      <p:sp>
        <p:nvSpPr>
          <p:cNvPr id="14" name="TextBox 13"/>
          <p:cNvSpPr txBox="1"/>
          <p:nvPr/>
        </p:nvSpPr>
        <p:spPr>
          <a:xfrm>
            <a:off x="8321040" y="2697480"/>
            <a:ext cx="1463040" cy="1463040"/>
          </a:xfrm>
          <a:prstGeom prst="rect">
            <a:avLst/>
          </a:prstGeom>
          <a:noFill/>
        </p:spPr>
        <p:txBody>
          <a:bodyPr wrap="square" lIns="0" rIns="0" tIns="0" bIns="0" anchor="t">
            <a:spAutoFit/>
          </a:bodyPr>
          <a:lstStyle/>
          <a:p>
            <a:pPr algn="l">
              <a:spcAft>
                <a:spcPts val="400"/>
              </a:spcAft>
            </a:pPr>
            <a:r>
              <a:rPr sz="3000" b="1">
                <a:solidFill>
                  <a:srgbClr val="FFFFFF"/>
                </a:solidFill>
                <a:latin typeface="Arial"/>
              </a:rPr>
              <a:t>1.0%</a:t>
            </a:r>
          </a:p>
          <a:p>
            <a:pPr algn="l">
              <a:spcAft>
                <a:spcPts val="400"/>
              </a:spcAft>
            </a:pPr>
            <a:r>
              <a:rPr sz="1200" b="0">
                <a:solidFill>
                  <a:srgbClr val="FFFFFF"/>
                </a:solidFill>
                <a:latin typeface="Arial"/>
              </a:rPr>
              <a:t>error on the
benchmark</a:t>
            </a:r>
          </a:p>
        </p:txBody>
      </p:sp>
      <p:sp>
        <p:nvSpPr>
          <p:cNvPr id="15" name="TextBox 14"/>
          <p:cNvSpPr txBox="1"/>
          <p:nvPr/>
        </p:nvSpPr>
        <p:spPr>
          <a:xfrm>
            <a:off x="9921240" y="2697480"/>
            <a:ext cx="1554480" cy="1463040"/>
          </a:xfrm>
          <a:prstGeom prst="rect">
            <a:avLst/>
          </a:prstGeom>
          <a:noFill/>
        </p:spPr>
        <p:txBody>
          <a:bodyPr wrap="square" lIns="0" rIns="0" tIns="0" bIns="0" anchor="t">
            <a:spAutoFit/>
          </a:bodyPr>
          <a:lstStyle/>
          <a:p>
            <a:pPr algn="l">
              <a:spcAft>
                <a:spcPts val="400"/>
              </a:spcAft>
            </a:pPr>
            <a:r>
              <a:rPr sz="3000" b="1">
                <a:solidFill>
                  <a:srgbClr val="FFFFFF"/>
                </a:solidFill>
                <a:latin typeface="Arial"/>
              </a:rPr>
              <a:t>1.5%</a:t>
            </a:r>
          </a:p>
          <a:p>
            <a:pPr algn="l">
              <a:spcAft>
                <a:spcPts val="400"/>
              </a:spcAft>
            </a:pPr>
            <a:r>
              <a:rPr sz="1200" b="0">
                <a:solidFill>
                  <a:srgbClr val="FFFFFF"/>
                </a:solidFill>
                <a:latin typeface="Arial"/>
              </a:rPr>
              <a:t>error on real-
world audio</a:t>
            </a:r>
          </a:p>
        </p:txBody>
      </p:sp>
      <p:sp>
        <p:nvSpPr>
          <p:cNvPr id="16" name="TextBox 15"/>
          <p:cNvSpPr txBox="1"/>
          <p:nvPr/>
        </p:nvSpPr>
        <p:spPr>
          <a:xfrm>
            <a:off x="502920" y="4709160"/>
            <a:ext cx="5486400" cy="146304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A reading, not a verdict</a:t>
            </a:r>
          </a:p>
          <a:p>
            <a:pPr algn="l">
              <a:spcAft>
                <a:spcPts val="400"/>
              </a:spcAft>
            </a:pPr>
            <a:r>
              <a:rPr sz="1400" b="0">
                <a:solidFill>
                  <a:srgbClr val="1A1A1A"/>
                </a:solidFill>
                <a:latin typeface="Arial"/>
              </a:rPr>
              <a:t>Any detector must pick a line. We show it, and its error rates.</a:t>
            </a:r>
          </a:p>
        </p:txBody>
      </p:sp>
      <p:sp>
        <p:nvSpPr>
          <p:cNvPr id="17" name="TextBox 16"/>
          <p:cNvSpPr txBox="1"/>
          <p:nvPr/>
        </p:nvSpPr>
        <p:spPr>
          <a:xfrm>
            <a:off x="6172200" y="4709160"/>
            <a:ext cx="5486400" cy="146304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Privacy where it matters</a:t>
            </a:r>
          </a:p>
          <a:p>
            <a:pPr algn="l">
              <a:spcAft>
                <a:spcPts val="400"/>
              </a:spcAft>
            </a:pPr>
            <a:r>
              <a:rPr sz="1400" b="0">
                <a:solidFill>
                  <a:srgbClr val="1A1A1A"/>
                </a:solidFill>
                <a:latin typeface="Arial"/>
              </a:rPr>
              <a:t>Private training cost 7.7 points of error and protected only public data. We protect your clip instead: never stored.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REAL-WORLD ERROR RATE, LOWER IS BETTER</a:t>
            </a:r>
          </a:p>
        </p:txBody>
      </p:sp>
      <p:sp>
        <p:nvSpPr>
          <p:cNvPr id="3" name="Text Placeholder 2"/>
          <p:cNvSpPr>
            <a:spLocks noGrp="1"/>
          </p:cNvSpPr>
          <p:nvPr>
            <p:ph type="body" idx="13" sz="quarter"/>
          </p:nvPr>
        </p:nvSpPr>
        <p:spPr/>
        <p:txBody>
          <a:bodyPr/>
          <a:lstStyle/>
          <a:p>
            <a:r>
              <a:t>THE JOURNEY: 37% TO 1.5%</a:t>
            </a:r>
          </a:p>
        </p:txBody>
      </p:sp>
      <p:graphicFrame>
        <p:nvGraphicFramePr>
          <p:cNvPr id="4" name="Chart 3"/>
          <p:cNvGraphicFramePr>
            <a:graphicFrameLocks noGrp="1"/>
          </p:cNvGraphicFramePr>
          <p:nvPr/>
        </p:nvGraphicFramePr>
        <p:xfrm>
          <a:off x="457200" y="1783080"/>
          <a:ext cx="7498079" cy="4251960"/>
        </p:xfrm>
        <a:graphic>
          <a:graphicData uri="http://schemas.openxmlformats.org/drawingml/2006/chart">
            <c:chart xmlns:c="http://schemas.openxmlformats.org/drawingml/2006/chart" r:id="rId2"/>
          </a:graphicData>
        </a:graphic>
      </p:graphicFrame>
      <p:sp>
        <p:nvSpPr>
          <p:cNvPr id="5" name="TextBox 4"/>
          <p:cNvSpPr txBox="1"/>
          <p:nvPr/>
        </p:nvSpPr>
        <p:spPr>
          <a:xfrm>
            <a:off x="8321040" y="2011680"/>
            <a:ext cx="3474720" cy="4023360"/>
          </a:xfrm>
          <a:prstGeom prst="rect">
            <a:avLst/>
          </a:prstGeom>
          <a:noFill/>
        </p:spPr>
        <p:txBody>
          <a:bodyPr wrap="square" lIns="0" rIns="0" tIns="0" bIns="0" anchor="t">
            <a:spAutoFit/>
          </a:bodyPr>
          <a:lstStyle/>
          <a:p>
            <a:pPr algn="l">
              <a:spcAft>
                <a:spcPts val="400"/>
              </a:spcAft>
            </a:pPr>
            <a:r>
              <a:rPr sz="1700" b="1">
                <a:solidFill>
                  <a:srgbClr val="C44E1F"/>
                </a:solidFill>
                <a:latin typeface="Arial"/>
              </a:rPr>
              <a:t>Setback</a:t>
            </a:r>
          </a:p>
          <a:p>
            <a:pPr algn="l">
              <a:spcAft>
                <a:spcPts val="400"/>
              </a:spcAft>
            </a:pPr>
            <a:r>
              <a:rPr sz="1400" b="0">
                <a:solidFill>
                  <a:srgbClr val="1A1A1A"/>
                </a:solidFill>
                <a:latin typeface="Arial"/>
              </a:rPr>
              <a:t>Trained on the benchmark, our models collapsed on real audio.</a:t>
            </a:r>
          </a:p>
          <a:p>
            <a:pPr algn="l">
              <a:spcAft>
                <a:spcPts val="400"/>
              </a:spcAft>
            </a:pPr>
            <a:r>
              <a:rPr sz="1700" b="1">
                <a:solidFill>
                  <a:srgbClr val="006DAE"/>
                </a:solidFill>
                <a:latin typeface="Arial"/>
              </a:rPr>
              <a:t>What fixed it</a:t>
            </a:r>
          </a:p>
          <a:p>
            <a:pPr algn="l">
              <a:spcAft>
                <a:spcPts val="400"/>
              </a:spcAft>
            </a:pPr>
            <a:r>
              <a:rPr sz="1400" b="0">
                <a:solidFill>
                  <a:srgbClr val="1A1A1A"/>
                </a:solidFill>
                <a:latin typeface="Arial"/>
              </a:rPr>
              <a:t>A pre-trained model, plus many different fake generators, including 66,000 clips we generated ourselves and the real recordings they were cloned from.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23 EXPERIMENTS IN 8 WEEKS</a:t>
            </a:r>
          </a:p>
        </p:txBody>
      </p:sp>
      <p:sp>
        <p:nvSpPr>
          <p:cNvPr id="3" name="Text Placeholder 2"/>
          <p:cNvSpPr>
            <a:spLocks noGrp="1"/>
          </p:cNvSpPr>
          <p:nvPr>
            <p:ph type="body" idx="13" sz="quarter"/>
          </p:nvPr>
        </p:nvSpPr>
        <p:spPr/>
        <p:txBody>
          <a:bodyPr/>
          <a:lstStyle/>
          <a:p>
            <a:r>
              <a:t>PROJECT MANAGEMENT</a:t>
            </a:r>
          </a:p>
        </p:txBody>
      </p:sp>
      <p:sp>
        <p:nvSpPr>
          <p:cNvPr id="4" name="Rectangle 3"/>
          <p:cNvSpPr/>
          <p:nvPr/>
        </p:nvSpPr>
        <p:spPr>
          <a:xfrm>
            <a:off x="731520" y="2514600"/>
            <a:ext cx="10698480" cy="36576"/>
          </a:xfrm>
          <a:prstGeom prst="rect">
            <a:avLst/>
          </a:prstGeom>
          <a:solidFill>
            <a:srgbClr val="C8D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3093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17 Aug</a:t>
            </a:r>
          </a:p>
        </p:txBody>
      </p:sp>
      <p:sp>
        <p:nvSpPr>
          <p:cNvPr id="7" name="TextBox 6"/>
          <p:cNvSpPr txBox="1"/>
          <p:nvPr/>
        </p:nvSpPr>
        <p:spPr>
          <a:xfrm>
            <a:off x="-9143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Model chosen</a:t>
            </a:r>
          </a:p>
        </p:txBody>
      </p:sp>
      <p:sp>
        <p:nvSpPr>
          <p:cNvPr id="8" name="Oval 7"/>
          <p:cNvSpPr/>
          <p:nvPr/>
        </p:nvSpPr>
        <p:spPr>
          <a:xfrm>
            <a:off x="241401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14 Sep</a:t>
            </a:r>
          </a:p>
        </p:txBody>
      </p:sp>
      <p:sp>
        <p:nvSpPr>
          <p:cNvPr id="10" name="TextBox 9"/>
          <p:cNvSpPr txBox="1"/>
          <p:nvPr/>
        </p:nvSpPr>
        <p:spPr>
          <a:xfrm>
            <a:off x="169164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GPU cluster access</a:t>
            </a:r>
          </a:p>
        </p:txBody>
      </p:sp>
      <p:sp>
        <p:nvSpPr>
          <p:cNvPr id="11" name="Oval 10"/>
          <p:cNvSpPr/>
          <p:nvPr/>
        </p:nvSpPr>
        <p:spPr>
          <a:xfrm>
            <a:off x="4197096" y="2432304"/>
            <a:ext cx="201168" cy="201168"/>
          </a:xfrm>
          <a:prstGeom prst="ellipse">
            <a:avLst/>
          </a:prstGeom>
          <a:solidFill>
            <a:srgbClr val="C44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21 Sep</a:t>
            </a:r>
          </a:p>
        </p:txBody>
      </p:sp>
      <p:sp>
        <p:nvSpPr>
          <p:cNvPr id="13" name="TextBox 12"/>
          <p:cNvSpPr txBox="1"/>
          <p:nvPr/>
        </p:nvSpPr>
        <p:spPr>
          <a:xfrm>
            <a:off x="347472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Real-world collapse</a:t>
            </a:r>
          </a:p>
        </p:txBody>
      </p:sp>
      <p:sp>
        <p:nvSpPr>
          <p:cNvPr id="14" name="Oval 13"/>
          <p:cNvSpPr/>
          <p:nvPr/>
        </p:nvSpPr>
        <p:spPr>
          <a:xfrm>
            <a:off x="5980175"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79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26 Sep</a:t>
            </a:r>
          </a:p>
        </p:txBody>
      </p:sp>
      <p:sp>
        <p:nvSpPr>
          <p:cNvPr id="16" name="TextBox 15"/>
          <p:cNvSpPr txBox="1"/>
          <p:nvPr/>
        </p:nvSpPr>
        <p:spPr>
          <a:xfrm>
            <a:off x="525779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2.65% error</a:t>
            </a:r>
          </a:p>
        </p:txBody>
      </p:sp>
      <p:sp>
        <p:nvSpPr>
          <p:cNvPr id="17" name="Oval 16"/>
          <p:cNvSpPr/>
          <p:nvPr/>
        </p:nvSpPr>
        <p:spPr>
          <a:xfrm>
            <a:off x="776325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7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27 Sep–1 Oct</a:t>
            </a:r>
          </a:p>
        </p:txBody>
      </p:sp>
      <p:sp>
        <p:nvSpPr>
          <p:cNvPr id="19" name="TextBox 18"/>
          <p:cNvSpPr txBox="1"/>
          <p:nvPr/>
        </p:nvSpPr>
        <p:spPr>
          <a:xfrm>
            <a:off x="704087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Threshold fixes</a:t>
            </a:r>
          </a:p>
        </p:txBody>
      </p:sp>
      <p:sp>
        <p:nvSpPr>
          <p:cNvPr id="20" name="Oval 19"/>
          <p:cNvSpPr/>
          <p:nvPr/>
        </p:nvSpPr>
        <p:spPr>
          <a:xfrm>
            <a:off x="954633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3–5 Oct</a:t>
            </a:r>
          </a:p>
        </p:txBody>
      </p:sp>
      <p:sp>
        <p:nvSpPr>
          <p:cNvPr id="22" name="TextBox 21"/>
          <p:cNvSpPr txBox="1"/>
          <p:nvPr/>
        </p:nvSpPr>
        <p:spPr>
          <a:xfrm>
            <a:off x="882396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Own fakes; live online</a:t>
            </a:r>
          </a:p>
        </p:txBody>
      </p:sp>
      <p:sp>
        <p:nvSpPr>
          <p:cNvPr id="23" name="Oval 22"/>
          <p:cNvSpPr/>
          <p:nvPr/>
        </p:nvSpPr>
        <p:spPr>
          <a:xfrm>
            <a:off x="1132941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0704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13 Oct</a:t>
            </a:r>
          </a:p>
        </p:txBody>
      </p:sp>
      <p:sp>
        <p:nvSpPr>
          <p:cNvPr id="25" name="TextBox 24"/>
          <p:cNvSpPr txBox="1"/>
          <p:nvPr/>
        </p:nvSpPr>
        <p:spPr>
          <a:xfrm>
            <a:off x="1060704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Final model: 1.51%</a:t>
            </a:r>
          </a:p>
        </p:txBody>
      </p:sp>
      <p:sp>
        <p:nvSpPr>
          <p:cNvPr id="26" name="Rounded Rectangle 25"/>
          <p:cNvSpPr/>
          <p:nvPr/>
        </p:nvSpPr>
        <p:spPr>
          <a:xfrm>
            <a:off x="118872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1732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Control: pre-registration</a:t>
            </a:r>
          </a:p>
          <a:p>
            <a:pPr algn="l">
              <a:spcAft>
                <a:spcPts val="400"/>
              </a:spcAft>
            </a:pPr>
            <a:r>
              <a:rPr sz="1400" b="0">
                <a:solidFill>
                  <a:srgbClr val="1A1A1A"/>
                </a:solidFill>
                <a:latin typeface="Arial"/>
              </a:rPr>
              <a:t>Success criteria written down before each run, so results couldn't be tuned after the fact.</a:t>
            </a:r>
          </a:p>
        </p:txBody>
      </p:sp>
      <p:sp>
        <p:nvSpPr>
          <p:cNvPr id="28" name="Rounded Rectangle 27"/>
          <p:cNvSpPr/>
          <p:nvPr/>
        </p:nvSpPr>
        <p:spPr>
          <a:xfrm>
            <a:off x="480060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Critical path: GPU time</a:t>
            </a:r>
          </a:p>
          <a:p>
            <a:pPr algn="l">
              <a:spcAft>
                <a:spcPts val="400"/>
              </a:spcAft>
            </a:pPr>
            <a:r>
              <a:rPr sz="1400" b="0">
                <a:solidFill>
                  <a:srgbClr val="1A1A1A"/>
                </a:solidFill>
                <a:latin typeface="Arial"/>
              </a:rPr>
              <a:t>376 GPU-hours on Monash's M3 cluster; 12–13 hours per training run.</a:t>
            </a:r>
          </a:p>
        </p:txBody>
      </p:sp>
      <p:sp>
        <p:nvSpPr>
          <p:cNvPr id="30" name="Rounded Rectangle 29"/>
          <p:cNvSpPr/>
          <p:nvPr/>
        </p:nvSpPr>
        <p:spPr>
          <a:xfrm>
            <a:off x="841248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108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Setbacks, handled openly</a:t>
            </a:r>
          </a:p>
          <a:p>
            <a:pPr algn="l">
              <a:spcAft>
                <a:spcPts val="400"/>
              </a:spcAft>
            </a:pPr>
            <a:r>
              <a:rPr sz="1400" b="0">
                <a:solidFill>
                  <a:srgbClr val="1A1A1A"/>
                </a:solidFill>
                <a:latin typeface="Arial"/>
              </a:rPr>
              <a:t>The real-world collapse; two targets missed by under 0.2 points and overridden, on record.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COST, CARBON, PRIVACY, LICENCES</a:t>
            </a:r>
          </a:p>
        </p:txBody>
      </p:sp>
      <p:sp>
        <p:nvSpPr>
          <p:cNvPr id="3" name="Text Placeholder 2"/>
          <p:cNvSpPr>
            <a:spLocks noGrp="1"/>
          </p:cNvSpPr>
          <p:nvPr>
            <p:ph type="body" idx="13" sz="quarter"/>
          </p:nvPr>
        </p:nvSpPr>
        <p:spPr/>
        <p:txBody>
          <a:bodyPr/>
          <a:lstStyle/>
          <a:p>
            <a:r>
              <a:t>CONSTRAINTS</a:t>
            </a:r>
          </a:p>
        </p:txBody>
      </p:sp>
      <p:sp>
        <p:nvSpPr>
          <p:cNvPr id="4" name="TextBox 3"/>
          <p:cNvSpPr txBox="1"/>
          <p:nvPr/>
        </p:nvSpPr>
        <p:spPr>
          <a:xfrm>
            <a:off x="365760" y="182880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A$0.53</a:t>
            </a:r>
          </a:p>
        </p:txBody>
      </p:sp>
      <p:sp>
        <p:nvSpPr>
          <p:cNvPr id="5" name="TextBox 4"/>
          <p:cNvSpPr txBox="1"/>
          <p:nvPr/>
        </p:nvSpPr>
        <p:spPr>
          <a:xfrm>
            <a:off x="365760" y="2606040"/>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hosting cost to date: the server sleeps when unused</a:t>
            </a:r>
          </a:p>
        </p:txBody>
      </p:sp>
      <p:sp>
        <p:nvSpPr>
          <p:cNvPr id="6" name="TextBox 5"/>
          <p:cNvSpPr txBox="1"/>
          <p:nvPr/>
        </p:nvSpPr>
        <p:spPr>
          <a:xfrm>
            <a:off x="4114800" y="182880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~150–200 kg</a:t>
            </a:r>
          </a:p>
        </p:txBody>
      </p:sp>
      <p:sp>
        <p:nvSpPr>
          <p:cNvPr id="7" name="TextBox 6"/>
          <p:cNvSpPr txBox="1"/>
          <p:nvPr/>
        </p:nvSpPr>
        <p:spPr>
          <a:xfrm>
            <a:off x="4114800" y="2606040"/>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CO₂e estimated for all training (376 GPU-hours)</a:t>
            </a:r>
          </a:p>
        </p:txBody>
      </p:sp>
      <p:sp>
        <p:nvSpPr>
          <p:cNvPr id="8" name="TextBox 7"/>
          <p:cNvSpPr txBox="1"/>
          <p:nvPr/>
        </p:nvSpPr>
        <p:spPr>
          <a:xfrm>
            <a:off x="365760" y="370332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0 clips</a:t>
            </a:r>
          </a:p>
        </p:txBody>
      </p:sp>
      <p:sp>
        <p:nvSpPr>
          <p:cNvPr id="9" name="TextBox 8"/>
          <p:cNvSpPr txBox="1"/>
          <p:nvPr/>
        </p:nvSpPr>
        <p:spPr>
          <a:xfrm>
            <a:off x="365760" y="4480559"/>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stored: uploads are scored in memory and dropped</a:t>
            </a:r>
          </a:p>
        </p:txBody>
      </p:sp>
      <p:sp>
        <p:nvSpPr>
          <p:cNvPr id="10" name="TextBox 9"/>
          <p:cNvSpPr txBox="1"/>
          <p:nvPr/>
        </p:nvSpPr>
        <p:spPr>
          <a:xfrm>
            <a:off x="4114800" y="370332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100%</a:t>
            </a:r>
          </a:p>
        </p:txBody>
      </p:sp>
      <p:sp>
        <p:nvSpPr>
          <p:cNvPr id="11" name="TextBox 10"/>
          <p:cNvSpPr txBox="1"/>
          <p:nvPr/>
        </p:nvSpPr>
        <p:spPr>
          <a:xfrm>
            <a:off x="4114800" y="4480559"/>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of training data licensed for commercial use</a:t>
            </a:r>
          </a:p>
        </p:txBody>
      </p:sp>
      <p:sp>
        <p:nvSpPr>
          <p:cNvPr id="12" name="TextBox 11"/>
          <p:cNvSpPr txBox="1"/>
          <p:nvPr/>
        </p:nvSpPr>
        <p:spPr>
          <a:xfrm>
            <a:off x="365760" y="5623560"/>
            <a:ext cx="7315200" cy="73152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Safety: the line is set so 1 in 100 real voices is flagged, because a false accusation does harm too.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AND WHAT THE USER IS TOLD</a:t>
            </a:r>
          </a:p>
        </p:txBody>
      </p:sp>
      <p:sp>
        <p:nvSpPr>
          <p:cNvPr id="3" name="Text Placeholder 2"/>
          <p:cNvSpPr>
            <a:spLocks noGrp="1"/>
          </p:cNvSpPr>
          <p:nvPr>
            <p:ph type="body" idx="13" sz="quarter"/>
          </p:nvPr>
        </p:nvSpPr>
        <p:spPr/>
        <p:txBody>
          <a:bodyPr/>
          <a:lstStyle/>
          <a:p>
            <a:r>
              <a:t>WHAT IT STILL GETS WRONG</a:t>
            </a:r>
          </a:p>
        </p:txBody>
      </p:sp>
      <p:sp>
        <p:nvSpPr>
          <p:cNvPr id="4" name="Rounded Rectangle 3"/>
          <p:cNvSpPr/>
          <p:nvPr/>
        </p:nvSpPr>
        <p:spPr>
          <a:xfrm>
            <a:off x="50292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9–15%</a:t>
            </a:r>
          </a:p>
        </p:txBody>
      </p:sp>
      <p:sp>
        <p:nvSpPr>
          <p:cNvPr id="6" name="TextBox 5"/>
          <p:cNvSpPr txBox="1"/>
          <p:nvPr/>
        </p:nvSpPr>
        <p:spPr>
          <a:xfrm>
            <a:off x="73152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of clean, studio-quality fakes still get past it</a:t>
            </a:r>
          </a:p>
        </p:txBody>
      </p:sp>
      <p:sp>
        <p:nvSpPr>
          <p:cNvPr id="7" name="Rounded Rectangle 6"/>
          <p:cNvSpPr/>
          <p:nvPr/>
        </p:nvSpPr>
        <p:spPr>
          <a:xfrm>
            <a:off x="333756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55%</a:t>
            </a:r>
          </a:p>
        </p:txBody>
      </p:sp>
      <p:sp>
        <p:nvSpPr>
          <p:cNvPr id="9" name="TextBox 8"/>
          <p:cNvSpPr txBox="1"/>
          <p:nvPr/>
        </p:nvSpPr>
        <p:spPr>
          <a:xfrm>
            <a:off x="356616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of clips from one new generator it never heard pass</a:t>
            </a:r>
          </a:p>
        </p:txBody>
      </p:sp>
      <p:sp>
        <p:nvSpPr>
          <p:cNvPr id="10" name="Rounded Rectangle 9"/>
          <p:cNvSpPr/>
          <p:nvPr/>
        </p:nvSpPr>
        <p:spPr>
          <a:xfrm>
            <a:off x="617220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2.58%</a:t>
            </a:r>
          </a:p>
        </p:txBody>
      </p:sp>
      <p:sp>
        <p:nvSpPr>
          <p:cNvPr id="12" name="TextBox 11"/>
          <p:cNvSpPr txBox="1"/>
          <p:nvPr/>
        </p:nvSpPr>
        <p:spPr>
          <a:xfrm>
            <a:off x="640080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real-world fakes missed, against our own 2.5% target</a:t>
            </a:r>
          </a:p>
        </p:txBody>
      </p:sp>
      <p:sp>
        <p:nvSpPr>
          <p:cNvPr id="13" name="Rounded Rectangle 12"/>
          <p:cNvSpPr/>
          <p:nvPr/>
        </p:nvSpPr>
        <p:spPr>
          <a:xfrm>
            <a:off x="900684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4 s</a:t>
            </a:r>
          </a:p>
        </p:txBody>
      </p:sp>
      <p:sp>
        <p:nvSpPr>
          <p:cNvPr id="15" name="TextBox 14"/>
          <p:cNvSpPr txBox="1"/>
          <p:nvPr/>
        </p:nvSpPr>
        <p:spPr>
          <a:xfrm>
            <a:off x="923544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only the first four seconds are read</a:t>
            </a:r>
          </a:p>
        </p:txBody>
      </p:sp>
      <p:sp>
        <p:nvSpPr>
          <p:cNvPr id="16" name="TextBox 15"/>
          <p:cNvSpPr txBox="1"/>
          <p:nvPr/>
        </p:nvSpPr>
        <p:spPr>
          <a:xfrm>
            <a:off x="502920" y="4297680"/>
            <a:ext cx="11155680" cy="109728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So the site says it plainly: </a:t>
            </a:r>
            <a:r>
              <a:rPr sz="1700" b="0">
                <a:solidFill>
                  <a:srgbClr val="1A1A1A"/>
                </a:solidFill>
                <a:latin typeface="Arial"/>
              </a:rPr>
              <a:t>a low score on a clean recording is not proof that it's real.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ANYONE HOLDING ONE CLIP AND ONE QUESTION</a:t>
            </a:r>
          </a:p>
        </p:txBody>
      </p:sp>
      <p:sp>
        <p:nvSpPr>
          <p:cNvPr id="3" name="Text Placeholder 2"/>
          <p:cNvSpPr>
            <a:spLocks noGrp="1"/>
          </p:cNvSpPr>
          <p:nvPr>
            <p:ph type="body" idx="13" sz="quarter"/>
          </p:nvPr>
        </p:nvSpPr>
        <p:spPr/>
        <p:txBody>
          <a:bodyPr/>
          <a:lstStyle/>
          <a:p>
            <a:r>
              <a:t>WHO BENEFITS</a:t>
            </a:r>
          </a:p>
        </p:txBody>
      </p:sp>
      <p:sp>
        <p:nvSpPr>
          <p:cNvPr id="4" name="Rounded Rectangle 3"/>
          <p:cNvSpPr/>
          <p:nvPr/>
        </p:nvSpPr>
        <p:spPr>
          <a:xfrm>
            <a:off x="50292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Scam targets</a:t>
            </a:r>
          </a:p>
          <a:p>
            <a:pPr algn="l">
              <a:spcAft>
                <a:spcPts val="400"/>
              </a:spcAft>
            </a:pPr>
            <a:r>
              <a:rPr sz="1400" b="0">
                <a:solidFill>
                  <a:srgbClr val="1A1A1A"/>
                </a:solidFill>
                <a:latin typeface="Arial"/>
              </a:rPr>
              <a:t>a second opinion on a suspicious voice note, before acting on it</a:t>
            </a:r>
          </a:p>
        </p:txBody>
      </p:sp>
      <p:sp>
        <p:nvSpPr>
          <p:cNvPr id="6" name="Rounded Rectangle 5"/>
          <p:cNvSpPr/>
          <p:nvPr/>
        </p:nvSpPr>
        <p:spPr>
          <a:xfrm>
            <a:off x="429768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Journalists</a:t>
            </a:r>
          </a:p>
          <a:p>
            <a:pPr algn="l">
              <a:spcAft>
                <a:spcPts val="400"/>
              </a:spcAft>
            </a:pPr>
            <a:r>
              <a:rPr sz="1400" b="0">
                <a:solidFill>
                  <a:srgbClr val="1A1A1A"/>
                </a:solidFill>
                <a:latin typeface="Arial"/>
              </a:rPr>
              <a:t>a measured reading of a clip, with its error rates, to cite</a:t>
            </a:r>
          </a:p>
        </p:txBody>
      </p:sp>
      <p:sp>
        <p:nvSpPr>
          <p:cNvPr id="8" name="Rounded Rectangle 7"/>
          <p:cNvSpPr/>
          <p:nvPr/>
        </p:nvSpPr>
        <p:spPr>
          <a:xfrm>
            <a:off x="809244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Moderators</a:t>
            </a:r>
          </a:p>
          <a:p>
            <a:pPr algn="l">
              <a:spcAft>
                <a:spcPts val="400"/>
              </a:spcAft>
            </a:pPr>
            <a:r>
              <a:rPr sz="1400" b="0">
                <a:solidFill>
                  <a:srgbClr val="1A1A1A"/>
                </a:solidFill>
                <a:latin typeface="Arial"/>
              </a:rPr>
              <a:t>a triage signal that says how far it can be trusted</a:t>
            </a:r>
          </a:p>
        </p:txBody>
      </p:sp>
      <p:sp>
        <p:nvSpPr>
          <p:cNvPr id="10" name="TextBox 9"/>
          <p:cNvSpPr txBox="1"/>
          <p:nvPr/>
        </p:nvSpPr>
        <p:spPr>
          <a:xfrm>
            <a:off x="502920" y="3886200"/>
            <a:ext cx="11155680" cy="548640"/>
          </a:xfrm>
          <a:prstGeom prst="rect">
            <a:avLst/>
          </a:prstGeom>
          <a:noFill/>
        </p:spPr>
        <p:txBody>
          <a:bodyPr wrap="square" lIns="0" rIns="0" tIns="0" bIns="0" anchor="t">
            <a:spAutoFit/>
          </a:bodyPr>
          <a:lstStyle/>
          <a:p>
            <a:pPr algn="l">
              <a:spcAft>
                <a:spcPts val="400"/>
              </a:spcAft>
            </a:pPr>
            <a:r>
              <a:rPr sz="1600" b="1">
                <a:solidFill>
                  <a:srgbClr val="1A1A1A"/>
                </a:solidFill>
                <a:latin typeface="Arial"/>
              </a:rPr>
              <a:t>Next: </a:t>
            </a:r>
            <a:r>
              <a:rPr sz="1600" b="0">
                <a:solidFill>
                  <a:srgbClr val="1A1A1A"/>
                </a:solidFill>
                <a:latin typeface="Arial"/>
              </a:rPr>
              <a:t>score whole clips, catch the newest generators, test the interface with users.</a:t>
            </a:r>
          </a:p>
        </p:txBody>
      </p:sp>
      <p:sp>
        <p:nvSpPr>
          <p:cNvPr id="11" name="TextBox 10"/>
          <p:cNvSpPr txBox="1"/>
          <p:nvPr/>
        </p:nvSpPr>
        <p:spPr>
          <a:xfrm>
            <a:off x="502920" y="4663440"/>
            <a:ext cx="11155680" cy="914400"/>
          </a:xfrm>
          <a:prstGeom prst="rect">
            <a:avLst/>
          </a:prstGeom>
          <a:noFill/>
        </p:spPr>
        <p:txBody>
          <a:bodyPr wrap="square" lIns="0" rIns="0" tIns="0" bIns="0" anchor="t">
            <a:spAutoFit/>
          </a:bodyPr>
          <a:lstStyle/>
          <a:p>
            <a:pPr algn="l">
              <a:spcAft>
                <a:spcPts val="400"/>
              </a:spcAft>
            </a:pPr>
            <a:r>
              <a:rPr sz="3600" b="1">
                <a:solidFill>
                  <a:srgbClr val="006DAE"/>
                </a:solidFill>
                <a:latin typeface="Arial Narrow"/>
              </a:rPr>
              <a:t>Thank you.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24484</TotalTime>
  <Words>75</Words>
  <Application>Microsoft Macintosh PowerPoint</Application>
  <PresentationFormat>Widescreen</PresentationFormat>
  <Paragraphs>23</Paragraphs>
  <Slides>15</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 Narrow</vt:lpstr>
      <vt:lpstr>Calibri</vt:lpstr>
      <vt:lpstr>Courier New</vt:lpstr>
      <vt:lpstr>Wingdings</vt:lpstr>
      <vt:lpstr>Arial</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15.0039</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Microsoft Office User</cp:lastModifiedBy>
  <cp:revision>425</cp:revision>
  <cp:lastPrinted>2017-06-07T05:21:52Z</cp:lastPrinted>
  <dcterms:created xsi:type="dcterms:W3CDTF">2017-05-31T01:24:04Z</dcterms:created>
  <dcterms:modified xsi:type="dcterms:W3CDTF">2022-10-13T06:38:46Z</dcterms:modified>
</cp:coreProperties>
</file>